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82"/>
    <p:restoredTop sz="69178"/>
  </p:normalViewPr>
  <p:slideViewPr>
    <p:cSldViewPr snapToGrid="0">
      <p:cViewPr varScale="1">
        <p:scale>
          <a:sx n="86" d="100"/>
          <a:sy n="86" d="100"/>
        </p:scale>
        <p:origin x="23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008CF2-4306-1E45-BDC1-7E9FCE917050}" type="datetimeFigureOut">
              <a:rPr lang="en-US" smtClean="0"/>
              <a:t>7/16/25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50B79A-D526-1448-9BDE-463017DBD14F}" type="slidenum">
              <a:rPr lang="en-US" smtClean="0"/>
              <a:t>‹#›</a:t>
            </a:fld>
            <a:endParaRPr lang="en-US"/>
          </a:p>
        </p:txBody>
      </p:sp>
    </p:spTree>
    <p:extLst>
      <p:ext uri="{BB962C8B-B14F-4D97-AF65-F5344CB8AC3E}">
        <p14:creationId xmlns:p14="http://schemas.microsoft.com/office/powerpoint/2010/main" val="1895881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Figure 2. Performance evaluation of the final model (Random Forest with down-sampling).</a:t>
            </a:r>
            <a:endParaRPr lang="en-US" dirty="0"/>
          </a:p>
          <a:p>
            <a:r>
              <a:rPr lang="en-US" dirty="0"/>
              <a:t>(A) Receiver Operating Characteristic (ROC) curve of the model on the held-out test set, demonstrating strong discriminatory ability with an Area Under the ROC (AUROC) of 0.96.</a:t>
            </a:r>
          </a:p>
          <a:p>
            <a:r>
              <a:rPr lang="en-US" dirty="0"/>
              <a:t>(B) Precision-Recall (PR) curve of the same model, with an Area Under the PR Curve (AUPRC) of 0.90, indicating robust performance in the presence of class imbalance.</a:t>
            </a:r>
          </a:p>
          <a:p>
            <a:r>
              <a:rPr lang="en-US" dirty="0"/>
              <a:t>(C) Confusion matrix showing classification outcomes on the test set. The model correctly classified 208 rejected and 72 accepted neoantigen candidates, with 17 false positives and 13 false negatives.</a:t>
            </a:r>
          </a:p>
          <a:p>
            <a:r>
              <a:rPr lang="en-US" dirty="0"/>
              <a:t>(D) Top 15 most important features ranked by Mean Decrease in Impurity (MDI, or Gini importance). Features related to RNA expression, allele-specific expression, and predicted MHC binding affinity were among the most influential in determining model predictions.</a:t>
            </a:r>
          </a:p>
          <a:p>
            <a:endParaRPr lang="en-US" dirty="0"/>
          </a:p>
        </p:txBody>
      </p:sp>
      <p:sp>
        <p:nvSpPr>
          <p:cNvPr id="4" name="Slide Number Placeholder 3"/>
          <p:cNvSpPr>
            <a:spLocks noGrp="1"/>
          </p:cNvSpPr>
          <p:nvPr>
            <p:ph type="sldNum" sz="quarter" idx="5"/>
          </p:nvPr>
        </p:nvSpPr>
        <p:spPr/>
        <p:txBody>
          <a:bodyPr/>
          <a:lstStyle/>
          <a:p>
            <a:fld id="{4E50B79A-D526-1448-9BDE-463017DBD14F}" type="slidenum">
              <a:rPr lang="en-US" smtClean="0"/>
              <a:t>3</a:t>
            </a:fld>
            <a:endParaRPr lang="en-US"/>
          </a:p>
        </p:txBody>
      </p:sp>
    </p:spTree>
    <p:extLst>
      <p:ext uri="{BB962C8B-B14F-4D97-AF65-F5344CB8AC3E}">
        <p14:creationId xmlns:p14="http://schemas.microsoft.com/office/powerpoint/2010/main" val="1614320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Figure 3. Evaluation of model performance beyond the test set in a real-world review setting.</a:t>
            </a:r>
            <a:endParaRPr lang="en-US" dirty="0"/>
          </a:p>
          <a:p>
            <a:r>
              <a:rPr lang="en-US" dirty="0"/>
              <a:t>(A) Confusion matrix showing the classification results of the final model (Random Forest with down-sampling) applied to an external patient cohort. The model categorized neoantigen candidates into three groups: “Accept,” “Reject,” and “Review.”</a:t>
            </a:r>
          </a:p>
          <a:p>
            <a:r>
              <a:rPr lang="en-US" dirty="0"/>
              <a:t>(B) Boxplot comparing the review time per peptide by the Immunotherapy Tumor Board (ITB) before and after model predictions were revealed. Four patient cases were reviewed without model predictions, while three additional cases were evaluated after predictions were incorporated into the workflow. A decrease in review time per peptide was observed in the post-prediction group, suggesting that the model may streamline expert review.</a:t>
            </a:r>
          </a:p>
          <a:p>
            <a:r>
              <a:rPr lang="en-US" dirty="0"/>
              <a:t>(C) Screenshot of the </a:t>
            </a:r>
            <a:r>
              <a:rPr lang="en-US" dirty="0" err="1"/>
              <a:t>pVACview</a:t>
            </a:r>
            <a:r>
              <a:rPr lang="en-US" dirty="0"/>
              <a:t> interface integrated with model predictions. For each neoantigen candidate, the model’s predicted classification (Accept, Reject, or Review) and the associated probability score are displayed. This feature enables reviewers to incorporate model-derived prioritization alongside conventional selection criteria during manual evaluation.</a:t>
            </a:r>
          </a:p>
          <a:p>
            <a:endParaRPr lang="en-US" dirty="0"/>
          </a:p>
        </p:txBody>
      </p:sp>
      <p:sp>
        <p:nvSpPr>
          <p:cNvPr id="4" name="Slide Number Placeholder 3"/>
          <p:cNvSpPr>
            <a:spLocks noGrp="1"/>
          </p:cNvSpPr>
          <p:nvPr>
            <p:ph type="sldNum" sz="quarter" idx="5"/>
          </p:nvPr>
        </p:nvSpPr>
        <p:spPr/>
        <p:txBody>
          <a:bodyPr/>
          <a:lstStyle/>
          <a:p>
            <a:fld id="{4E50B79A-D526-1448-9BDE-463017DBD14F}" type="slidenum">
              <a:rPr lang="en-US" smtClean="0"/>
              <a:t>4</a:t>
            </a:fld>
            <a:endParaRPr lang="en-US"/>
          </a:p>
        </p:txBody>
      </p:sp>
    </p:spTree>
    <p:extLst>
      <p:ext uri="{BB962C8B-B14F-4D97-AF65-F5344CB8AC3E}">
        <p14:creationId xmlns:p14="http://schemas.microsoft.com/office/powerpoint/2010/main" val="1110849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3EF46-9BBC-0CED-EAB3-4D5ADED782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9917EA-B96D-077A-AA1B-6154FAFCA8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BFD2D0-D619-C490-F8E5-B3B509D5CD0F}"/>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5" name="Footer Placeholder 4">
            <a:extLst>
              <a:ext uri="{FF2B5EF4-FFF2-40B4-BE49-F238E27FC236}">
                <a16:creationId xmlns:a16="http://schemas.microsoft.com/office/drawing/2014/main" id="{A5C8475C-3CD0-72BF-A5E5-2A99198A3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EAC469-4173-CA8A-B110-9257747CDB2A}"/>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1256580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940B6-F907-44D4-C69D-8759B806CD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0B449-077B-80FC-EEAE-00D06978C5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EDB4F9-A69C-B690-F414-AFE5AD3CD9FE}"/>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5" name="Footer Placeholder 4">
            <a:extLst>
              <a:ext uri="{FF2B5EF4-FFF2-40B4-BE49-F238E27FC236}">
                <a16:creationId xmlns:a16="http://schemas.microsoft.com/office/drawing/2014/main" id="{A3BB0207-9ACD-E6A6-A4F0-F4CB0F90B8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FA1E8-5934-3EAA-8AE8-C38EBD514DD2}"/>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1503318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91E7A-331F-A687-3801-7142AF43A8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06CA2-C081-7DC5-92E8-319CDF48EB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7D7F00-7788-93EA-2390-7A33731AFB7B}"/>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5" name="Footer Placeholder 4">
            <a:extLst>
              <a:ext uri="{FF2B5EF4-FFF2-40B4-BE49-F238E27FC236}">
                <a16:creationId xmlns:a16="http://schemas.microsoft.com/office/drawing/2014/main" id="{42E5B0CE-B1A1-77BD-3D91-8D10ED411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78635C-D2A6-616F-26F6-847CBBADD7E6}"/>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3695504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3A47C-B9C7-378C-3877-D13765A0ED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E79668-A6AC-EBAE-956A-2567AD8FC6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B7E2B2-BD3C-A595-436B-25EFB30C06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685190-B891-72DF-C3CD-8E14A09A8171}"/>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6" name="Footer Placeholder 5">
            <a:extLst>
              <a:ext uri="{FF2B5EF4-FFF2-40B4-BE49-F238E27FC236}">
                <a16:creationId xmlns:a16="http://schemas.microsoft.com/office/drawing/2014/main" id="{D2645E07-391B-6AAA-D2BC-0839DC2CF9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FA82F-C9E6-96F4-EC9C-DC0B66CF9FAC}"/>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2889733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C2A9F-98EF-AFC2-9C47-E2EFB92BC8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6F1580-FE6E-F5EC-9AC7-4EDF225347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358859-4282-A3FD-2255-0AFF2981EB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3F59BA-5904-E73B-1E9D-1548D2F176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C1E69B-8C96-8D7E-6419-BE3C988980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22A910-E371-AE6C-923E-318CF5217D77}"/>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8" name="Footer Placeholder 7">
            <a:extLst>
              <a:ext uri="{FF2B5EF4-FFF2-40B4-BE49-F238E27FC236}">
                <a16:creationId xmlns:a16="http://schemas.microsoft.com/office/drawing/2014/main" id="{EEB7D655-6105-58D3-CBB9-ABF60DED6E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EBE770-DC09-1325-2CFF-3E7CEE333D8F}"/>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287228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4AB2A-24CB-6CD9-098C-BEE59F69BF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8642F-FBB4-19C9-DC4F-5CDFB43AFFD6}"/>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4" name="Footer Placeholder 3">
            <a:extLst>
              <a:ext uri="{FF2B5EF4-FFF2-40B4-BE49-F238E27FC236}">
                <a16:creationId xmlns:a16="http://schemas.microsoft.com/office/drawing/2014/main" id="{A932C14B-6215-3F9A-09A1-9AA0D6B36F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60D1D0-511D-0D9C-9246-B9D175F0A501}"/>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1047975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53A14-BF38-0206-7B39-29F11029326B}"/>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3" name="Footer Placeholder 2">
            <a:extLst>
              <a:ext uri="{FF2B5EF4-FFF2-40B4-BE49-F238E27FC236}">
                <a16:creationId xmlns:a16="http://schemas.microsoft.com/office/drawing/2014/main" id="{3EDD5BC5-D90C-6579-1E2C-5B660A2F76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52D825-1AB1-DF5E-9FF6-7470E77F1CA0}"/>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1637008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C4AFF-F59D-B1C9-0577-0A5CA08F15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CB20E3-071B-0F7C-B473-BBBB0C766D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783EB2-8679-908C-B394-E20107D30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8167FA-5DBD-BD9F-DA63-8FF79D0E35F5}"/>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6" name="Footer Placeholder 5">
            <a:extLst>
              <a:ext uri="{FF2B5EF4-FFF2-40B4-BE49-F238E27FC236}">
                <a16:creationId xmlns:a16="http://schemas.microsoft.com/office/drawing/2014/main" id="{D8CD65A9-0FB9-8C07-8C4A-B9478B1A73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F92DA-96CC-BEAE-CE93-7A5CA12C5133}"/>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2513778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EEC1-C366-9430-4203-CC8BF76D28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6D86EA-97BE-0D19-2C55-156689B1FB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A96F22-7D9B-829E-D64B-F66293516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0C5C90-F05B-1584-1F89-DBB83B1FF5B6}"/>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6" name="Footer Placeholder 5">
            <a:extLst>
              <a:ext uri="{FF2B5EF4-FFF2-40B4-BE49-F238E27FC236}">
                <a16:creationId xmlns:a16="http://schemas.microsoft.com/office/drawing/2014/main" id="{6FC30D2C-DDFB-42BC-45D2-A0F696E51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C08377-C66F-4439-ADB2-D23413E39130}"/>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80656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306C8-89B0-9FD1-35F5-71313B9A73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6F3D5D-6714-8EE2-0C3A-EB4745547E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75DD51-25AA-740E-D878-F972EE6B2815}"/>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5" name="Footer Placeholder 4">
            <a:extLst>
              <a:ext uri="{FF2B5EF4-FFF2-40B4-BE49-F238E27FC236}">
                <a16:creationId xmlns:a16="http://schemas.microsoft.com/office/drawing/2014/main" id="{10EBC9C2-68E1-3751-7801-6B8361BFD6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3D72C-488D-EAD0-37DF-ED687C989A77}"/>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2742745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08D825-8386-82D4-579A-EE9174C818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603CB5-325F-4AE6-E20F-E4235CE4C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F7E3D7-2007-7296-F19F-B61BA8EF6C23}"/>
              </a:ext>
            </a:extLst>
          </p:cNvPr>
          <p:cNvSpPr>
            <a:spLocks noGrp="1"/>
          </p:cNvSpPr>
          <p:nvPr>
            <p:ph type="dt" sz="half" idx="10"/>
          </p:nvPr>
        </p:nvSpPr>
        <p:spPr/>
        <p:txBody>
          <a:bodyPr/>
          <a:lstStyle/>
          <a:p>
            <a:fld id="{296DF900-C952-0143-A691-388289552BEE}" type="datetimeFigureOut">
              <a:rPr lang="en-US" smtClean="0"/>
              <a:t>7/16/25</a:t>
            </a:fld>
            <a:endParaRPr lang="en-US"/>
          </a:p>
        </p:txBody>
      </p:sp>
      <p:sp>
        <p:nvSpPr>
          <p:cNvPr id="5" name="Footer Placeholder 4">
            <a:extLst>
              <a:ext uri="{FF2B5EF4-FFF2-40B4-BE49-F238E27FC236}">
                <a16:creationId xmlns:a16="http://schemas.microsoft.com/office/drawing/2014/main" id="{FA3FB9E7-38E6-EE67-BC83-5C82A51E47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34975-651C-1762-1543-E421C9FD466E}"/>
              </a:ext>
            </a:extLst>
          </p:cNvPr>
          <p:cNvSpPr>
            <a:spLocks noGrp="1"/>
          </p:cNvSpPr>
          <p:nvPr>
            <p:ph type="sldNum" sz="quarter" idx="12"/>
          </p:nvPr>
        </p:nvSpPr>
        <p:spPr/>
        <p:txBody>
          <a:bodyPr/>
          <a:lstStyle/>
          <a:p>
            <a:fld id="{77CD9927-5AD2-4B4E-85BE-E317B4951D21}" type="slidenum">
              <a:rPr lang="en-US" smtClean="0"/>
              <a:t>‹#›</a:t>
            </a:fld>
            <a:endParaRPr lang="en-US"/>
          </a:p>
        </p:txBody>
      </p:sp>
    </p:spTree>
    <p:extLst>
      <p:ext uri="{BB962C8B-B14F-4D97-AF65-F5344CB8AC3E}">
        <p14:creationId xmlns:p14="http://schemas.microsoft.com/office/powerpoint/2010/main" val="2033060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8B0A30-702C-9C1A-A039-C0BC5B6CEA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39E0F0-C202-755C-8762-7E2B5418DC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BA745-8A08-8442-36DB-89AEA48F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6DF900-C952-0143-A691-388289552BEE}" type="datetimeFigureOut">
              <a:rPr lang="en-US" smtClean="0"/>
              <a:t>7/16/25</a:t>
            </a:fld>
            <a:endParaRPr lang="en-US"/>
          </a:p>
        </p:txBody>
      </p:sp>
      <p:sp>
        <p:nvSpPr>
          <p:cNvPr id="5" name="Footer Placeholder 4">
            <a:extLst>
              <a:ext uri="{FF2B5EF4-FFF2-40B4-BE49-F238E27FC236}">
                <a16:creationId xmlns:a16="http://schemas.microsoft.com/office/drawing/2014/main" id="{91B5D7DF-DC41-FEA2-D595-CCCEEBA74A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44B862-E3FD-340A-965B-0D2A2626B5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CD9927-5AD2-4B4E-85BE-E317B4951D21}" type="slidenum">
              <a:rPr lang="en-US" smtClean="0"/>
              <a:t>‹#›</a:t>
            </a:fld>
            <a:endParaRPr lang="en-US"/>
          </a:p>
        </p:txBody>
      </p:sp>
    </p:spTree>
    <p:extLst>
      <p:ext uri="{BB962C8B-B14F-4D97-AF65-F5344CB8AC3E}">
        <p14:creationId xmlns:p14="http://schemas.microsoft.com/office/powerpoint/2010/main" val="77519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7D28A-8581-3AC6-449E-0FE529D784EB}"/>
              </a:ext>
            </a:extLst>
          </p:cNvPr>
          <p:cNvSpPr>
            <a:spLocks noGrp="1"/>
          </p:cNvSpPr>
          <p:nvPr>
            <p:ph type="ctrTitle"/>
          </p:nvPr>
        </p:nvSpPr>
        <p:spPr/>
        <p:txBody>
          <a:bodyPr/>
          <a:lstStyle/>
          <a:p>
            <a:r>
              <a:rPr lang="en-US" dirty="0"/>
              <a:t>ITB paper figures</a:t>
            </a:r>
          </a:p>
        </p:txBody>
      </p:sp>
      <p:sp>
        <p:nvSpPr>
          <p:cNvPr id="3" name="Subtitle 2">
            <a:extLst>
              <a:ext uri="{FF2B5EF4-FFF2-40B4-BE49-F238E27FC236}">
                <a16:creationId xmlns:a16="http://schemas.microsoft.com/office/drawing/2014/main" id="{22B9DDD2-12B8-552D-EC2A-7D21F780FBD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68991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3646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ue squares with numbers and a graph&#10;&#10;AI-generated content may be incorrect.">
            <a:extLst>
              <a:ext uri="{FF2B5EF4-FFF2-40B4-BE49-F238E27FC236}">
                <a16:creationId xmlns:a16="http://schemas.microsoft.com/office/drawing/2014/main" id="{4CBAC8B4-EF46-FD6D-1198-7C219568BF8A}"/>
              </a:ext>
            </a:extLst>
          </p:cNvPr>
          <p:cNvPicPr>
            <a:picLocks noChangeAspect="1"/>
          </p:cNvPicPr>
          <p:nvPr/>
        </p:nvPicPr>
        <p:blipFill>
          <a:blip r:embed="rId3"/>
          <a:stretch>
            <a:fillRect/>
          </a:stretch>
        </p:blipFill>
        <p:spPr>
          <a:xfrm>
            <a:off x="1795462" y="3429000"/>
            <a:ext cx="4300538" cy="3071813"/>
          </a:xfrm>
          <a:prstGeom prst="rect">
            <a:avLst/>
          </a:prstGeom>
        </p:spPr>
      </p:pic>
      <p:pic>
        <p:nvPicPr>
          <p:cNvPr id="13" name="Picture 12" descr="A graph with a line&#10;&#10;AI-generated content may be incorrect.">
            <a:extLst>
              <a:ext uri="{FF2B5EF4-FFF2-40B4-BE49-F238E27FC236}">
                <a16:creationId xmlns:a16="http://schemas.microsoft.com/office/drawing/2014/main" id="{32960D0E-E1BF-9686-2156-5ADBF0229CE7}"/>
              </a:ext>
            </a:extLst>
          </p:cNvPr>
          <p:cNvPicPr>
            <a:picLocks noChangeAspect="1"/>
          </p:cNvPicPr>
          <p:nvPr/>
        </p:nvPicPr>
        <p:blipFill>
          <a:blip r:embed="rId4"/>
          <a:stretch>
            <a:fillRect/>
          </a:stretch>
        </p:blipFill>
        <p:spPr>
          <a:xfrm>
            <a:off x="6045992" y="378617"/>
            <a:ext cx="4300539" cy="3071814"/>
          </a:xfrm>
          <a:prstGeom prst="rect">
            <a:avLst/>
          </a:prstGeom>
        </p:spPr>
      </p:pic>
      <p:pic>
        <p:nvPicPr>
          <p:cNvPr id="15" name="Picture 14" descr="A graph of a test set&#10;&#10;AI-generated content may be incorrect.">
            <a:extLst>
              <a:ext uri="{FF2B5EF4-FFF2-40B4-BE49-F238E27FC236}">
                <a16:creationId xmlns:a16="http://schemas.microsoft.com/office/drawing/2014/main" id="{FEDAE7ED-6CE9-D582-50F5-09D4A1C4B96E}"/>
              </a:ext>
            </a:extLst>
          </p:cNvPr>
          <p:cNvPicPr>
            <a:picLocks noChangeAspect="1"/>
          </p:cNvPicPr>
          <p:nvPr/>
        </p:nvPicPr>
        <p:blipFill>
          <a:blip r:embed="rId5"/>
          <a:stretch>
            <a:fillRect/>
          </a:stretch>
        </p:blipFill>
        <p:spPr>
          <a:xfrm>
            <a:off x="1795462" y="400048"/>
            <a:ext cx="4300538" cy="3071813"/>
          </a:xfrm>
          <a:prstGeom prst="rect">
            <a:avLst/>
          </a:prstGeom>
        </p:spPr>
      </p:pic>
      <p:pic>
        <p:nvPicPr>
          <p:cNvPr id="17" name="Picture 16" descr="A graph of numbers and a number of numbers&#10;&#10;AI-generated content may be incorrect.">
            <a:extLst>
              <a:ext uri="{FF2B5EF4-FFF2-40B4-BE49-F238E27FC236}">
                <a16:creationId xmlns:a16="http://schemas.microsoft.com/office/drawing/2014/main" id="{F6AEE107-013D-7271-A18C-E75EE69174A5}"/>
              </a:ext>
            </a:extLst>
          </p:cNvPr>
          <p:cNvPicPr>
            <a:picLocks noChangeAspect="1"/>
          </p:cNvPicPr>
          <p:nvPr/>
        </p:nvPicPr>
        <p:blipFill>
          <a:blip r:embed="rId6"/>
          <a:stretch>
            <a:fillRect/>
          </a:stretch>
        </p:blipFill>
        <p:spPr>
          <a:xfrm>
            <a:off x="6045989" y="3450430"/>
            <a:ext cx="4300540" cy="3071814"/>
          </a:xfrm>
          <a:prstGeom prst="rect">
            <a:avLst/>
          </a:prstGeom>
        </p:spPr>
      </p:pic>
      <p:sp>
        <p:nvSpPr>
          <p:cNvPr id="18" name="TextBox 17">
            <a:extLst>
              <a:ext uri="{FF2B5EF4-FFF2-40B4-BE49-F238E27FC236}">
                <a16:creationId xmlns:a16="http://schemas.microsoft.com/office/drawing/2014/main" id="{CED75B64-4DBD-C1E5-9940-66DC367E6979}"/>
              </a:ext>
            </a:extLst>
          </p:cNvPr>
          <p:cNvSpPr txBox="1"/>
          <p:nvPr/>
        </p:nvSpPr>
        <p:spPr>
          <a:xfrm>
            <a:off x="1795461" y="400048"/>
            <a:ext cx="320922" cy="369332"/>
          </a:xfrm>
          <a:prstGeom prst="rect">
            <a:avLst/>
          </a:prstGeom>
          <a:noFill/>
        </p:spPr>
        <p:txBody>
          <a:bodyPr wrap="none" rtlCol="0">
            <a:spAutoFit/>
          </a:bodyPr>
          <a:lstStyle/>
          <a:p>
            <a:r>
              <a:rPr lang="en-US" dirty="0"/>
              <a:t>A</a:t>
            </a:r>
          </a:p>
        </p:txBody>
      </p:sp>
      <p:sp>
        <p:nvSpPr>
          <p:cNvPr id="19" name="TextBox 18">
            <a:extLst>
              <a:ext uri="{FF2B5EF4-FFF2-40B4-BE49-F238E27FC236}">
                <a16:creationId xmlns:a16="http://schemas.microsoft.com/office/drawing/2014/main" id="{1F45040A-B28C-4065-B8E1-06664C1CB3BF}"/>
              </a:ext>
            </a:extLst>
          </p:cNvPr>
          <p:cNvSpPr txBox="1"/>
          <p:nvPr/>
        </p:nvSpPr>
        <p:spPr>
          <a:xfrm>
            <a:off x="6045991" y="406117"/>
            <a:ext cx="324128" cy="369332"/>
          </a:xfrm>
          <a:prstGeom prst="rect">
            <a:avLst/>
          </a:prstGeom>
          <a:noFill/>
        </p:spPr>
        <p:txBody>
          <a:bodyPr wrap="none" rtlCol="0">
            <a:spAutoFit/>
          </a:bodyPr>
          <a:lstStyle/>
          <a:p>
            <a:r>
              <a:rPr lang="en-US" dirty="0"/>
              <a:t>B</a:t>
            </a:r>
          </a:p>
        </p:txBody>
      </p:sp>
      <p:sp>
        <p:nvSpPr>
          <p:cNvPr id="20" name="TextBox 19">
            <a:extLst>
              <a:ext uri="{FF2B5EF4-FFF2-40B4-BE49-F238E27FC236}">
                <a16:creationId xmlns:a16="http://schemas.microsoft.com/office/drawing/2014/main" id="{4A844FC8-1EAF-F1B4-AF21-FF77CB701629}"/>
              </a:ext>
            </a:extLst>
          </p:cNvPr>
          <p:cNvSpPr txBox="1"/>
          <p:nvPr/>
        </p:nvSpPr>
        <p:spPr>
          <a:xfrm>
            <a:off x="1795458" y="3429000"/>
            <a:ext cx="344966" cy="369332"/>
          </a:xfrm>
          <a:prstGeom prst="rect">
            <a:avLst/>
          </a:prstGeom>
          <a:noFill/>
        </p:spPr>
        <p:txBody>
          <a:bodyPr wrap="none" rtlCol="0">
            <a:spAutoFit/>
          </a:bodyPr>
          <a:lstStyle/>
          <a:p>
            <a:r>
              <a:rPr lang="en-US" dirty="0"/>
              <a:t>C</a:t>
            </a:r>
          </a:p>
        </p:txBody>
      </p:sp>
      <p:sp>
        <p:nvSpPr>
          <p:cNvPr id="21" name="TextBox 20">
            <a:extLst>
              <a:ext uri="{FF2B5EF4-FFF2-40B4-BE49-F238E27FC236}">
                <a16:creationId xmlns:a16="http://schemas.microsoft.com/office/drawing/2014/main" id="{4434B552-BEBF-4754-9DBB-8EEE29381E0C}"/>
              </a:ext>
            </a:extLst>
          </p:cNvPr>
          <p:cNvSpPr txBox="1"/>
          <p:nvPr/>
        </p:nvSpPr>
        <p:spPr>
          <a:xfrm>
            <a:off x="6051031" y="3429000"/>
            <a:ext cx="343364" cy="369332"/>
          </a:xfrm>
          <a:prstGeom prst="rect">
            <a:avLst/>
          </a:prstGeom>
          <a:noFill/>
        </p:spPr>
        <p:txBody>
          <a:bodyPr wrap="none" rtlCol="0">
            <a:spAutoFit/>
          </a:bodyPr>
          <a:lstStyle/>
          <a:p>
            <a:r>
              <a:rPr lang="en-US" dirty="0"/>
              <a:t>D</a:t>
            </a:r>
          </a:p>
        </p:txBody>
      </p:sp>
    </p:spTree>
    <p:extLst>
      <p:ext uri="{BB962C8B-B14F-4D97-AF65-F5344CB8AC3E}">
        <p14:creationId xmlns:p14="http://schemas.microsoft.com/office/powerpoint/2010/main" val="2493230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squares with numbers and a blue rectangle&#10;&#10;AI-generated content may be incorrect.">
            <a:extLst>
              <a:ext uri="{FF2B5EF4-FFF2-40B4-BE49-F238E27FC236}">
                <a16:creationId xmlns:a16="http://schemas.microsoft.com/office/drawing/2014/main" id="{0384BDE6-E170-7A21-D356-039841A22B7B}"/>
              </a:ext>
            </a:extLst>
          </p:cNvPr>
          <p:cNvPicPr>
            <a:picLocks noChangeAspect="1"/>
          </p:cNvPicPr>
          <p:nvPr/>
        </p:nvPicPr>
        <p:blipFill>
          <a:blip r:embed="rId3"/>
          <a:stretch>
            <a:fillRect/>
          </a:stretch>
        </p:blipFill>
        <p:spPr>
          <a:xfrm>
            <a:off x="2604305" y="0"/>
            <a:ext cx="4228617" cy="3171463"/>
          </a:xfrm>
          <a:prstGeom prst="rect">
            <a:avLst/>
          </a:prstGeom>
        </p:spPr>
      </p:pic>
      <p:pic>
        <p:nvPicPr>
          <p:cNvPr id="7" name="Picture 6" descr="A diagram of a graph&#10;&#10;AI-generated content may be incorrect.">
            <a:extLst>
              <a:ext uri="{FF2B5EF4-FFF2-40B4-BE49-F238E27FC236}">
                <a16:creationId xmlns:a16="http://schemas.microsoft.com/office/drawing/2014/main" id="{D1CEF5D3-0CB0-2E3B-7656-9D341B97A400}"/>
              </a:ext>
            </a:extLst>
          </p:cNvPr>
          <p:cNvPicPr>
            <a:picLocks noChangeAspect="1"/>
          </p:cNvPicPr>
          <p:nvPr/>
        </p:nvPicPr>
        <p:blipFill>
          <a:blip r:embed="rId4"/>
          <a:stretch>
            <a:fillRect/>
          </a:stretch>
        </p:blipFill>
        <p:spPr>
          <a:xfrm>
            <a:off x="6375863" y="0"/>
            <a:ext cx="4446466" cy="317604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BCC21B5D-2BE3-5A73-BCCC-6A877E4E9748}"/>
              </a:ext>
            </a:extLst>
          </p:cNvPr>
          <p:cNvPicPr>
            <a:picLocks noChangeAspect="1"/>
          </p:cNvPicPr>
          <p:nvPr/>
        </p:nvPicPr>
        <p:blipFill>
          <a:blip r:embed="rId5"/>
          <a:stretch>
            <a:fillRect/>
          </a:stretch>
        </p:blipFill>
        <p:spPr>
          <a:xfrm>
            <a:off x="3067292" y="3320402"/>
            <a:ext cx="6617142" cy="3537598"/>
          </a:xfrm>
          <a:prstGeom prst="rect">
            <a:avLst/>
          </a:prstGeom>
        </p:spPr>
      </p:pic>
      <p:sp>
        <p:nvSpPr>
          <p:cNvPr id="12" name="TextBox 11">
            <a:extLst>
              <a:ext uri="{FF2B5EF4-FFF2-40B4-BE49-F238E27FC236}">
                <a16:creationId xmlns:a16="http://schemas.microsoft.com/office/drawing/2014/main" id="{B565987E-5A4D-26AB-A071-8CEE15E6068C}"/>
              </a:ext>
            </a:extLst>
          </p:cNvPr>
          <p:cNvSpPr txBox="1"/>
          <p:nvPr/>
        </p:nvSpPr>
        <p:spPr>
          <a:xfrm>
            <a:off x="6375863" y="147817"/>
            <a:ext cx="324128" cy="369332"/>
          </a:xfrm>
          <a:prstGeom prst="rect">
            <a:avLst/>
          </a:prstGeom>
          <a:noFill/>
        </p:spPr>
        <p:txBody>
          <a:bodyPr wrap="none" rtlCol="0">
            <a:spAutoFit/>
          </a:bodyPr>
          <a:lstStyle/>
          <a:p>
            <a:r>
              <a:rPr lang="en-US" dirty="0"/>
              <a:t>B</a:t>
            </a:r>
          </a:p>
        </p:txBody>
      </p:sp>
      <p:sp>
        <p:nvSpPr>
          <p:cNvPr id="13" name="TextBox 12">
            <a:extLst>
              <a:ext uri="{FF2B5EF4-FFF2-40B4-BE49-F238E27FC236}">
                <a16:creationId xmlns:a16="http://schemas.microsoft.com/office/drawing/2014/main" id="{11323D5E-2475-E6E9-92F6-44B8AFCA1890}"/>
              </a:ext>
            </a:extLst>
          </p:cNvPr>
          <p:cNvSpPr txBox="1"/>
          <p:nvPr/>
        </p:nvSpPr>
        <p:spPr>
          <a:xfrm>
            <a:off x="2756705" y="147817"/>
            <a:ext cx="320922" cy="369332"/>
          </a:xfrm>
          <a:prstGeom prst="rect">
            <a:avLst/>
          </a:prstGeom>
          <a:noFill/>
        </p:spPr>
        <p:txBody>
          <a:bodyPr wrap="none" rtlCol="0">
            <a:spAutoFit/>
          </a:bodyPr>
          <a:lstStyle/>
          <a:p>
            <a:r>
              <a:rPr lang="en-US" dirty="0"/>
              <a:t>A</a:t>
            </a:r>
          </a:p>
        </p:txBody>
      </p:sp>
      <p:sp>
        <p:nvSpPr>
          <p:cNvPr id="15" name="TextBox 14">
            <a:extLst>
              <a:ext uri="{FF2B5EF4-FFF2-40B4-BE49-F238E27FC236}">
                <a16:creationId xmlns:a16="http://schemas.microsoft.com/office/drawing/2014/main" id="{4E49098E-7012-FF2C-7570-D7CEFECB1E21}"/>
              </a:ext>
            </a:extLst>
          </p:cNvPr>
          <p:cNvSpPr txBox="1"/>
          <p:nvPr/>
        </p:nvSpPr>
        <p:spPr>
          <a:xfrm>
            <a:off x="2756705" y="2946487"/>
            <a:ext cx="344966" cy="369332"/>
          </a:xfrm>
          <a:prstGeom prst="rect">
            <a:avLst/>
          </a:prstGeom>
          <a:noFill/>
        </p:spPr>
        <p:txBody>
          <a:bodyPr wrap="none" rtlCol="0">
            <a:spAutoFit/>
          </a:bodyPr>
          <a:lstStyle/>
          <a:p>
            <a:r>
              <a:rPr lang="en-US" dirty="0"/>
              <a:t>C</a:t>
            </a:r>
          </a:p>
        </p:txBody>
      </p:sp>
    </p:spTree>
    <p:extLst>
      <p:ext uri="{BB962C8B-B14F-4D97-AF65-F5344CB8AC3E}">
        <p14:creationId xmlns:p14="http://schemas.microsoft.com/office/powerpoint/2010/main" val="4168850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707</TotalTime>
  <Words>365</Words>
  <Application>Microsoft Macintosh PowerPoint</Application>
  <PresentationFormat>Widescreen</PresentationFormat>
  <Paragraphs>19</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ITB paper figures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Jennie Yao</dc:creator>
  <cp:lastModifiedBy>Jennie Yao</cp:lastModifiedBy>
  <cp:revision>3</cp:revision>
  <dcterms:created xsi:type="dcterms:W3CDTF">2025-07-11T21:28:42Z</dcterms:created>
  <dcterms:modified xsi:type="dcterms:W3CDTF">2025-07-17T14:47:57Z</dcterms:modified>
</cp:coreProperties>
</file>